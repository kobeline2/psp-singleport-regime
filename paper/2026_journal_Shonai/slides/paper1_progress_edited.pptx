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16"/>
  </p:normalViewPr>
  <p:slideViewPr>
    <p:cSldViewPr snapToGrid="0" snapToObjects="1">
      <p:cViewPr varScale="1">
        <p:scale>
          <a:sx n="124" d="100"/>
          <a:sy n="124" d="100"/>
        </p:scale>
        <p:origin x="19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86767-472E-1344-B62D-C61E7E5962D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9A7DB-9DBA-D54E-871A-5A088923C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49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30-second version of the talk. Everything else is evidence for these three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Block design matters later: it is what lets us attribute the sign to flow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why all quantitative claims use the transit-time discharge over stated bands, not the nominal value. The h=a coincidence returns on the unsteadiness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Tool-agnostic after import: PIVLab output is normalized to a canonical struct, so the metric layer never sees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Up = Q/(a b) is the port mean velocity; it makes thresholds and vorticity flow-rate-free.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Top: R0006 (clockwise). Bottom: R0008 (counterclockwise). 'CW/CCW' refer to the plotted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slide modest: selection mechanism is NOT identified; only its flow-rate dependence is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00200"/>
            <a:ext cx="10360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 dirty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Pumped-storage upper reservoir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23160"/>
            <a:ext cx="1072591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Surface-flow regimes in a shallow
single-port reservoir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1072591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 dirty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Experiment results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10725912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Takahiro </a:t>
            </a:r>
            <a:r>
              <a:rPr lang="en-US" sz="2600" b="1" dirty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KOSHIBA</a:t>
            </a:r>
            <a:br>
              <a:rPr lang="en-US" sz="2600" b="1" i="0" dirty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</a:br>
            <a:r>
              <a:rPr lang="en-US" sz="2600" b="1" i="0" dirty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Yuna SHONAI</a:t>
            </a:r>
            <a:endParaRPr sz="2600" b="1" i="0" dirty="0">
              <a:solidFill>
                <a:srgbClr val="FFFFFF"/>
              </a:solidFill>
              <a:latin typeface="Arial"/>
              <a:ea typeface="BIZ UDPゴシック"/>
              <a:cs typeface="BIZ UDPゴシック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8251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Today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Three findings from the 24-run campaign; the middle one is new and is the headline.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3611880" cy="30175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67128"/>
            <a:ext cx="3099816" cy="1715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Inflow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Jet deflects to one wall and drives a basin-scale circulation, at every depth.</a:t>
            </a:r>
          </a:p>
          <a:p>
            <a:pPr marL="285750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Depth modulates intensity, </a:t>
            </a:r>
            <a:br>
              <a:rPr lang="en-US"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</a:b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not the pattern.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965960"/>
            <a:ext cx="3611880" cy="30175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2" y="2167128"/>
            <a:ext cx="3099816" cy="2331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NEW  Flow rate picks the direction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Low: counterclockwise, 4/4 runs.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High: clockwise, 4/4. Medium: bistable, 3/1.</a:t>
            </a:r>
          </a:p>
          <a:p>
            <a:pPr marL="285750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BIZ UDPゴシック"/>
                <a:cs typeface="BIZ UDPゴシック"/>
              </a:rPr>
              <a:t>The sign splits within every 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9871" y="1965960"/>
            <a:ext cx="3611880" cy="30175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75903" y="2167128"/>
            <a:ext cx="3099816" cy="1715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9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Outflow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A symmetric converging sink, ~1000x weaker at the surface; no rotation.</a:t>
            </a:r>
          </a:p>
          <a:p>
            <a:pPr marL="285750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Weak mean, largest relative fluctuation.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5705743"/>
            <a:ext cx="10780776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</a:t>
            </a:r>
            <a:r>
              <a:rPr lang="en-US" sz="22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ne </a:t>
            </a:r>
            <a:r>
              <a:rPr sz="22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port: the flow rate decides which way the basin 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063240"/>
            <a:ext cx="2194560" cy="54864"/>
          </a:xfrm>
          <a:prstGeom prst="rect">
            <a:avLst/>
          </a:prstGeom>
          <a:solidFill>
            <a:srgbClr val="AE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Setup recap and the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Facility and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Same rig as before: shallow rectangular basin, one reversible port on the short wall.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5120640" cy="3979696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34290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PHOTO PLACEHOLDER
basin overview + port close-up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874519"/>
            <a:ext cx="5669280" cy="16916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2075688"/>
            <a:ext cx="5157216" cy="1238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Geometry (measured)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Basin 2.952 x 1.962 m, depth range 0.03-0.10 m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Port 0.11 m wide x 0.055 m high, at mid short wall</a:t>
            </a:r>
          </a:p>
          <a:p>
            <a:pPr marL="285750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Port bottom flush with the floor;  a = 0.055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886200"/>
            <a:ext cx="5669280" cy="1968015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9632" y="4087367"/>
            <a:ext cx="5157216" cy="1546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Campaign (24 runs, all from still water)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2 modes (inflow / outflow) x 3 flow levels x 4 reps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Nominal 0.25 / 0.50 / 0.75 L/s (valve-set)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Inflow reps blocked by day: each of 4 days ran</a:t>
            </a:r>
          </a:p>
          <a:p>
            <a:pPr marL="285750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low + medium + high  -&gt;  day vs flow separable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3754C4-C1B5-F020-55B0-D09D480FF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91" y="1957978"/>
            <a:ext cx="4648914" cy="38127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Depth is swept within each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Depth is an axis every run traverses; we analyze in four depth bands.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11055096" cy="438912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920240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1920240"/>
            <a:ext cx="774496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Range and 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59152"/>
            <a:ext cx="11055096" cy="566928"/>
          </a:xfrm>
          <a:prstGeom prst="rect">
            <a:avLst/>
          </a:prstGeom>
          <a:solidFill>
            <a:srgbClr val="ED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359152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B1  30-50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359152"/>
            <a:ext cx="77449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h/a = 0.55-0.91   shallow, port partly open to the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2608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B2  50-60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926080"/>
            <a:ext cx="77449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h/a = 0.91-1.09   transition around full submergence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493008"/>
            <a:ext cx="11055096" cy="566928"/>
          </a:xfrm>
          <a:prstGeom prst="rect">
            <a:avLst/>
          </a:prstGeom>
          <a:solidFill>
            <a:srgbClr val="ED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493008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B3  60-75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3493008"/>
            <a:ext cx="77449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h/a = 1.09-1.36   moderately submerged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59936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B4  75-100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4059936"/>
            <a:ext cx="77449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h/a = 1.36-1.82   clearly submerged, quasi-steady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617720"/>
            <a:ext cx="11055096" cy="5950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BIZ UDPゴシック"/>
                <a:cs typeface="BIZ UDPゴシック"/>
              </a:rPr>
              <a:t>Inflow fills 30 -&gt; 100 mm, outflow drains 100 -&gt; 30 mm; every PIV frame gets a depth tag from the level logger.</a:t>
            </a:r>
          </a:p>
          <a:p>
            <a:pPr>
              <a:spcBef>
                <a:spcPts val="800"/>
              </a:spcBef>
            </a:pPr>
            <a:r>
              <a:rPr sz="1200" b="0" i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BIZ UDPゴシック"/>
                <a:cs typeface="BIZ UDPゴシック"/>
              </a:rPr>
              <a:t>The controlling ratio is h/a (depth over port height). B3+B4 is the quasi-steady window used for statistics.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5536466"/>
            <a:ext cx="10780776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Everything that follows is plotted against h/a; </a:t>
            </a:r>
            <a:br>
              <a:rPr lang="en-US" sz="22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</a:br>
            <a:r>
              <a:rPr sz="22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port ceiling h/a = 1 is the landmark.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delivered discharge varies within a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The valve fixes the label, not the discharge -- so we quote measured, band-wise Q.</a:t>
            </a:r>
          </a:p>
        </p:txBody>
      </p:sp>
      <p:pic>
        <p:nvPicPr>
          <p:cNvPr id="6" name="Picture 5" descr="qh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966" y="1783080"/>
            <a:ext cx="7879018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532120"/>
            <a:ext cx="1105509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Dip to roughly 25-30% of nominal just below h = a, then recovery; high runs overshoot nominal at depth.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Note for later: at h = a the port submerges AND the supply channel pressurizes -- same instant, by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From movies to numbers: three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One fixed pipeline; settings identical for all 24 runs except the pair interval.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3291840" cy="160020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277977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1  Surface velocity field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u(x, y, t) from surface PIV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92 x 61 vectors, 31.5 mm grid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50208" y="2816352"/>
            <a:ext cx="329184" cy="0"/>
          </a:xfrm>
          <a:prstGeom prst="line">
            <a:avLst/>
          </a:prstGeom>
          <a:ln w="20320">
            <a:solidFill>
              <a:srgbClr val="0020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315968" y="2011680"/>
            <a:ext cx="3291840" cy="160020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212848"/>
            <a:ext cx="277977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2  Frame scalars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E, phi_lv, I_asym,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I_circ, I_rot  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99248" y="2816352"/>
            <a:ext cx="329183" cy="0"/>
          </a:xfrm>
          <a:prstGeom prst="line">
            <a:avLst/>
          </a:prstGeom>
          <a:ln w="20320">
            <a:solidFill>
              <a:srgbClr val="0020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65008" y="2011680"/>
            <a:ext cx="2999232" cy="160020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212848"/>
            <a:ext cx="2487168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3  Band statistics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mean, std, SNR, I_unst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per run x band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86200"/>
            <a:ext cx="11055096" cy="19659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4032504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Settings actually used (identical for all 24 runs except dt)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453128"/>
            <a:ext cx="10652760" cy="1271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nsolas"/>
                <a:ea typeface="BIZ UDPゴシック"/>
                <a:cs typeface="BIZ UDPゴシック"/>
              </a:rPr>
              <a:t>camera 29.97 Hz, rectified to 1501 x 1001 px (1.97 mm/px, full basin)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onsolas"/>
                <a:ea typeface="BIZ UDPゴシック"/>
                <a:cs typeface="BIZ UDPゴシック"/>
              </a:rPr>
              <a:t>PIV     multi-pass 128 &gt; 64 &gt; 32 px, 50% overlap, 6-sigma + median filters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onsolas"/>
                <a:ea typeface="BIZ UDPゴシック"/>
                <a:cs typeface="BIZ UDPゴシック"/>
              </a:rPr>
              <a:t>dt      inflow 0.200 / 0.100 / 0.067 s (displacement matched across levels)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Consolas"/>
                <a:ea typeface="BIZ UDPゴシック"/>
                <a:cs typeface="BIZ UDPゴシック"/>
              </a:rPr>
              <a:t>        outflow 0.334 s everywhere  &lt;- too short, revisited on the outflow slides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Five primary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Chosen once during the pilot, then frozen; all are area means over the full vector grid.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11055096" cy="438912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828800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1828800"/>
            <a:ext cx="875080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What it measures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67712"/>
            <a:ext cx="11055096" cy="512064"/>
          </a:xfrm>
          <a:prstGeom prst="rect">
            <a:avLst/>
          </a:prstGeom>
          <a:solidFill>
            <a:srgbClr val="ED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267712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267712"/>
            <a:ext cx="87508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how much the surface moves -- mean of |u|^2  [m2/s2]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79776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phi_lv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779776"/>
            <a:ext cx="87508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how much of it is dead -- area fraction below 0.2 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91840"/>
            <a:ext cx="11055096" cy="512064"/>
          </a:xfrm>
          <a:prstGeom prst="rect">
            <a:avLst/>
          </a:prstGeom>
          <a:solidFill>
            <a:srgbClr val="ED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291840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I_asym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291840"/>
            <a:ext cx="87508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left-right imbalance of energy (unsigned magnitude)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803904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I_circ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3803904"/>
            <a:ext cx="87508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net rotation, SIGNED -- which way the basin 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315968"/>
            <a:ext cx="11055096" cy="512064"/>
          </a:xfrm>
          <a:prstGeom prst="rect">
            <a:avLst/>
          </a:prstGeom>
          <a:solidFill>
            <a:srgbClr val="ED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4315968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I_rot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315968"/>
            <a:ext cx="87508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rotation activity, unsigned -- how much turning exists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828032"/>
            <a:ext cx="1737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I_unst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4828032"/>
            <a:ext cx="87508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band-wise variability -- std/mean of E while in a band</a:t>
            </a:r>
          </a:p>
        </p:txBody>
      </p:sp>
      <p:pic>
        <p:nvPicPr>
          <p:cNvPr id="24" name="Picture 23" descr="eq_ba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727" y="5349240"/>
            <a:ext cx="8778240" cy="6949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Two ways to be zero: I_circ vs I_rot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The signed and unsigned rotation metrics answer different questions -- we need both.</a:t>
            </a:r>
          </a:p>
        </p:txBody>
      </p:sp>
      <p:pic>
        <p:nvPicPr>
          <p:cNvPr id="6" name="Picture 5" descr="eq_ci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978286"/>
            <a:ext cx="9692640" cy="7016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2880360"/>
            <a:ext cx="5394960" cy="178308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081528"/>
            <a:ext cx="4882896" cy="1208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 dirty="0" err="1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I_circ</a:t>
            </a:r>
            <a:r>
              <a:rPr sz="18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 ~ 0, </a:t>
            </a:r>
            <a:r>
              <a:rPr sz="1800" b="1" i="0" dirty="0" err="1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I_rot</a:t>
            </a:r>
            <a:r>
              <a:rPr sz="18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 large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Strong counter-rotating cells that cancel</a:t>
            </a:r>
            <a:r>
              <a:rPr lang="en-US"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 </a:t>
            </a: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 the signed mean.  </a:t>
            </a:r>
            <a:endParaRPr lang="en-US" sz="1600" b="0" i="0" dirty="0">
              <a:solidFill>
                <a:srgbClr val="1A1A1A"/>
              </a:solidFill>
              <a:latin typeface="Arial"/>
              <a:ea typeface="BIZ UDPゴシック"/>
              <a:cs typeface="BIZ UDPゴシック"/>
            </a:endParaRPr>
          </a:p>
          <a:p>
            <a:pPr marL="285750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This is inflow.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880360"/>
            <a:ext cx="5394960" cy="178308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3081528"/>
            <a:ext cx="4882896" cy="961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 dirty="0" err="1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I_circ</a:t>
            </a:r>
            <a:r>
              <a:rPr sz="18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 ~ 0, </a:t>
            </a:r>
            <a:r>
              <a:rPr sz="1800" b="1" i="0" dirty="0" err="1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I_rot</a:t>
            </a:r>
            <a:r>
              <a:rPr sz="18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 small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No rotation to begin with.</a:t>
            </a:r>
          </a:p>
          <a:p>
            <a:pPr marL="285750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This is outflow.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800600"/>
            <a:ext cx="11055096" cy="7772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001768"/>
            <a:ext cx="10543032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Rule we enforce: the SIGN of </a:t>
            </a:r>
            <a:r>
              <a:rPr sz="1500" b="0" i="0" dirty="0" err="1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I_circ</a:t>
            </a: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 is a per-run outcome. Never average signed </a:t>
            </a:r>
            <a:r>
              <a:rPr sz="1500" b="0" i="0" dirty="0" err="1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I_circ</a:t>
            </a: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 across repetitions -- opposite-branch runs cancel to zero and erase the result.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Read the pair (</a:t>
            </a:r>
            <a:r>
              <a:rPr sz="2200" b="1" i="0" dirty="0" err="1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I_circ</a:t>
            </a:r>
            <a:r>
              <a:rPr sz="22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, </a:t>
            </a:r>
            <a:r>
              <a:rPr sz="2200" b="1" i="0" dirty="0" err="1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I_rot</a:t>
            </a:r>
            <a:r>
              <a:rPr sz="22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); the signed one carries the branch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Noise-floor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Every scalar is reported against the measured noise floor of the PIV.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5394960" cy="19202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488289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Measured floor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E_noise ~ 2e-7 m2/s2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= 0.06 px displacement per image pair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Band is 'resolved' only if SNR = E/E_noise &gt;= 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394960" cy="19202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2121408"/>
            <a:ext cx="488289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Where the data stand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Inflow: SNR &gt; 400 in every band  -- fully resolved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Outflow high: resolved at B1 (SNR ~ 37) and B4 (~6)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Outflow low/medium: below or near floor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14800"/>
            <a:ext cx="11055096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Time-mean vector fields survive below the floor (random error averages down by 1/sqrt(N) over ~1000 frames per band).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So for weak outflow: trust the mean maps, treat the scalars as qualitative.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One honest rule, applied everywhere -- it will matter for outflow.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063240"/>
            <a:ext cx="2194560" cy="54864"/>
          </a:xfrm>
          <a:prstGeom prst="rect">
            <a:avLst/>
          </a:prstGeom>
          <a:solidFill>
            <a:srgbClr val="AE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Inflow: one regime, modulated by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Deflected jet + basin-scale circulation, at every depth band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same structure at every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Band-mean surface velocity, one representative low-flow run; port at the left wall center.</a:t>
            </a:r>
          </a:p>
        </p:txBody>
      </p:sp>
      <p:pic>
        <p:nvPicPr>
          <p:cNvPr id="6" name="Picture 5" descr="R0001_band_mean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36155"/>
            <a:ext cx="11055096" cy="1751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069080"/>
            <a:ext cx="1105509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jet does not go straight: it attaches to one side wall, accelerates along it, and drives one basin-scale circulation.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opposite side holds a broad, slow recirculation.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Topology is identical in B1-B4 -- submergence changes the intensity, not the pattern.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One regime across the whole depth range: deflected jet + asymmetric circulation.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Depth modulates intensity, not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Band statistics over the 12 inflow runs (mean +/- sd over the 4 repetitions).</a:t>
            </a:r>
          </a:p>
        </p:txBody>
      </p:sp>
      <p:pic>
        <p:nvPicPr>
          <p:cNvPr id="6" name="Picture 5" descr="inflow_metrics_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44877"/>
            <a:ext cx="11055096" cy="31054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349240"/>
            <a:ext cx="11055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E drops 2.6-4.4x from B1 to B4: the jet's momentum reaches the surface less and less.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dead-water fraction phi_lv grows to ~half of the basin; I_asym stays flat at ~0.26 throughout.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9278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h/a ~ 1 is an unsteadiness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The clearest depth transition is not in the pattern but in the fluctuation level.</a:t>
            </a:r>
          </a:p>
        </p:txBody>
      </p:sp>
      <p:pic>
        <p:nvPicPr>
          <p:cNvPr id="6" name="Picture 5" descr="iunst_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58617"/>
            <a:ext cx="5577840" cy="3506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828800"/>
            <a:ext cx="5212080" cy="178308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56832" y="2029968"/>
            <a:ext cx="4700016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What switches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 &lt; a: exposed jet wanders -- I_unst 0.35-0.40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 &gt; a: submerged jet, calm surface -- 0.03-0.05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Same switch position at all three flow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56832" y="3995928"/>
            <a:ext cx="470001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One honest caveat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At h = a the port submerges and the supply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channel pressurizes at the same instant (channel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roof = a by design). This rig cannot separate the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two mechanisms -- stated as such in the paper.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Keep water above the port ceiling and the inflow surface is steady; near it, it is 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063240"/>
            <a:ext cx="2194560" cy="54864"/>
          </a:xfrm>
          <a:prstGeom prst="rect">
            <a:avLst/>
          </a:prstGeom>
          <a:solidFill>
            <a:srgbClr val="AE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The headline: flow rate selects the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Same condition, opposite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Two medium repetitions, identical settings, four days apart -- mirror-image circulations.</a:t>
            </a:r>
          </a:p>
        </p:txBody>
      </p:sp>
      <p:pic>
        <p:nvPicPr>
          <p:cNvPr id="6" name="Picture 5" descr="R0006_band_mean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6869"/>
            <a:ext cx="11055096" cy="1775501"/>
          </a:xfrm>
          <a:prstGeom prst="rect">
            <a:avLst/>
          </a:prstGeom>
        </p:spPr>
      </p:pic>
      <p:pic>
        <p:nvPicPr>
          <p:cNvPr id="7" name="Picture 6" descr="R0008_band_mean_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39" y="3703320"/>
            <a:ext cx="11017273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18520" y="1828800"/>
            <a:ext cx="548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CW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3749039"/>
            <a:ext cx="685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CCW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Two mirror states, both realized: a symmetry-breaking pair, not scatter.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Locked traces -- one of them flipped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Signed I_circ through the fill, all four medium repetitions (thin: raw; bold: smoothed).</a:t>
            </a:r>
          </a:p>
        </p:txBody>
      </p:sp>
      <p:pic>
        <p:nvPicPr>
          <p:cNvPr id="6" name="Picture 5" descr="icirc_traces_me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52" y="1783080"/>
            <a:ext cx="7885247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577840"/>
            <a:ext cx="11055096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Each run settles onto one sign as the jet submerges and never leaves it: in 10 of 12 inflow runs the deep-band sign persistence is 1.000.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sign, day by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Every experiment day ran low, medium and high -- and the sign splits inside each day.</a:t>
            </a:r>
          </a:p>
        </p:txBody>
      </p:sp>
      <p:pic>
        <p:nvPicPr>
          <p:cNvPr id="6" name="Picture 5" descr="sig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83" y="1783080"/>
            <a:ext cx="5333648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103120"/>
            <a:ext cx="47548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7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low: counterclockwise in 4 of 4 runs</a:t>
            </a:r>
          </a:p>
          <a:p>
            <a:pPr>
              <a:spcBef>
                <a:spcPts val="1200"/>
              </a:spcBef>
            </a:pPr>
            <a:r>
              <a:rPr sz="1300" b="0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7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high: clockwise in 4 of 4 runs</a:t>
            </a:r>
          </a:p>
          <a:p>
            <a:pPr>
              <a:spcBef>
                <a:spcPts val="1200"/>
              </a:spcBef>
            </a:pPr>
            <a:r>
              <a:rPr sz="1300" b="0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7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medium: 3 CW / 1 CCW -- the fence-sitter</a:t>
            </a:r>
          </a:p>
          <a:p>
            <a:pPr>
              <a:spcBef>
                <a:spcPts val="1200"/>
              </a:spcBef>
            </a:pPr>
            <a:r>
              <a:rPr sz="1500" b="0" i="0" dirty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  – </a:t>
            </a:r>
            <a:r>
              <a:rPr sz="15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same day, same rig, same water -- only the valve differs between columns</a:t>
            </a:r>
          </a:p>
          <a:p>
            <a:pPr>
              <a:spcBef>
                <a:spcPts val="1200"/>
              </a:spcBef>
            </a:pPr>
            <a:r>
              <a:rPr sz="1300" b="0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7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so the selector is the flow rate, not the day, not the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Deterministic at low and high; the preferred direction REVERSES between them.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Medium sits on the fence -- genuine </a:t>
            </a:r>
            <a:r>
              <a:rPr sz="3000" b="1" i="0" dirty="0" err="1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bistability</a:t>
            </a:r>
            <a:endParaRPr sz="3000" b="1" i="0" dirty="0">
              <a:solidFill>
                <a:srgbClr val="00205B"/>
              </a:solidFill>
              <a:latin typeface="Arial"/>
              <a:ea typeface="BIZ UDPゴシック"/>
              <a:cs typeface="BIZ UDPゴシック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The flipped run is not a discharge outlier: both branches occur at the same Q.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5394960" cy="21031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67128"/>
            <a:ext cx="488289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flipped run, R0008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Deep-band discharge (transit-time):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R0008 = 0.492 L/s vs R0007 = 0.485 L/s -&gt; 1.4%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(B4 alone: 0.2%). Within the medium spread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0.485-0.519 L/s across the four repetitions.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5394960" cy="21031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2167128"/>
            <a:ext cx="488289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weak run, R0007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Same sign as the majority but barely locked: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R_lock = 1.9 (vs 7.5-10.3 for the others),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sign persistence 0.970 -- occasional excursions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toward zero. The fence is real on both sides.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434840"/>
            <a:ext cx="1105509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Same condition, two outcomes: that is a bistable transition band, not measurement scatter.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Low (all CCW) and high (all CW) sit safely on either side of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Medium is where the two branches compete -- exactly where a transition band should sit.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How firmly the branch is held grows with discharge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Lock strength: mean net circulation over its own fluctuation, per run (deep bands).</a:t>
            </a:r>
          </a:p>
        </p:txBody>
      </p:sp>
      <p:pic>
        <p:nvPicPr>
          <p:cNvPr id="6" name="Picture 5" descr="lock_vs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0" y="1783080"/>
            <a:ext cx="6340234" cy="4114800"/>
          </a:xfrm>
          <a:prstGeom prst="rect">
            <a:avLst/>
          </a:prstGeom>
        </p:spPr>
      </p:pic>
      <p:pic>
        <p:nvPicPr>
          <p:cNvPr id="7" name="Picture 6" descr="eq_r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39010"/>
            <a:ext cx="3840480" cy="5511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0" y="3291840"/>
            <a:ext cx="4297680" cy="228600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71231" y="3493008"/>
            <a:ext cx="378561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Reading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Level medians 3.6 -&gt; 8.7 -&gt; 11.8: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monotonic in discharge.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two weak points are the fence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(R0007) and one marginal low run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(R0002, persistence 0.83).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Flow rate controls both WHICH branch is taken and HOW FIRMLY it is held.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Reading it as symmetry breaking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A deliberately careful reading: the data constrain the story, not close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8"/>
            <a:ext cx="11055096" cy="1211581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10543032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Mirror pair = broken symmetry</a:t>
            </a:r>
          </a:p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geometry is left-right symmetric, so the two circulations are twin solutions; shallow-basin work treats wall attachment as a symmetry-breaking bifurcation (</a:t>
            </a:r>
            <a:r>
              <a:rPr sz="1400" b="0" i="0" dirty="0" err="1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Dewals</a:t>
            </a:r>
            <a:r>
              <a:rPr sz="14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 2008; Mullin 2003).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250692"/>
            <a:ext cx="11055096" cy="1522476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451860"/>
            <a:ext cx="105430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A fixed imperfection cannot explain a REVERSING preference</a:t>
            </a: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One geometric defect would always pick the same side. Ours reverses between low and high -- so at least two</a:t>
            </a: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competing biases with different flow-rate dependence must be present (e.g. supply-line bias vs jet-momentum bias).</a:t>
            </a:r>
          </a:p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Identifying them needs deliberate asymmetry experiments -- future work, stated as such.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029200"/>
            <a:ext cx="11055096" cy="118872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230368"/>
            <a:ext cx="10543032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 dirty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Firmer lock at higher flow fits stability theory</a:t>
            </a: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More flow means bottom friction matters relatively less (higher effective Re, cf. Chen &amp; Jirka 1997):</a:t>
            </a:r>
          </a:p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system sits farther above the symmetry-breaking threshold, so the chosen branch is held harder.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38251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Dewals et al. 2008; Chen &amp; Jirka 1997; Mullin et al. 2003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063240"/>
            <a:ext cx="2194560" cy="54864"/>
          </a:xfrm>
          <a:prstGeom prst="rect">
            <a:avLst/>
          </a:prstGeom>
          <a:solidFill>
            <a:srgbClr val="AE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Outflow: the other half of the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A converging sink, three orders weaker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Band-mean fields, high-flow outflow run; note the color scales vs the inflow slides.</a:t>
            </a:r>
          </a:p>
        </p:txBody>
      </p:sp>
      <p:pic>
        <p:nvPicPr>
          <p:cNvPr id="6" name="Picture 5" descr="R0021_band_mean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5312"/>
            <a:ext cx="11055096" cy="17729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023360"/>
            <a:ext cx="1105509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All vectors point at the port: a near-symmetric converging sink. No deflection, no attached wall jet, no rotation.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I_rot = 0.002-0.007, about 1/20 of inflow; I_asym ~ 0.08 vs 0.26 -- and E is ~1/1000 of inflow at equal discharge.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6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So the branch-selection question simply does not arise here: there is nothing rotating to choose a side.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Same port, opposite role: injection makes a jet; withdrawal makes a sink.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The surface barely feels the withdrawal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This is geometry, not an instrument limit: the free surface is ~1000 port areas wide.</a:t>
            </a:r>
          </a:p>
        </p:txBody>
      </p:sp>
      <p:pic>
        <p:nvPicPr>
          <p:cNvPr id="6" name="Picture 5" descr="E_mod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14493"/>
            <a:ext cx="5120640" cy="30862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1828800"/>
            <a:ext cx="5669280" cy="17373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99632" y="2029968"/>
            <a:ext cx="515721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Saturated dead water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phi_lv = 1.000 in every outflow band: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whole surface is below 0.2 Up.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Band-mean speeds: 0.35-2.2% of 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749039"/>
            <a:ext cx="5669280" cy="17373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3950207"/>
            <a:ext cx="515721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Continuity does the arithmetic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A_plan / (a b) ~ 1e3, so a sink of Up at the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port dilutes to ~1e-3 Up at the surface --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matching what we measure.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In a shallow basin, outflow is geometrically guaranteed to leave the surface almost still.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Weak but restless -- and partly below our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Where we can resolve it, outflow fluctuates twice as hard (relatively) as inflow ever does.</a:t>
            </a:r>
          </a:p>
        </p:txBody>
      </p:sp>
      <p:pic>
        <p:nvPicPr>
          <p:cNvPr id="6" name="Picture 5" descr="R0013_band_mean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15" y="1828800"/>
            <a:ext cx="10477521" cy="1783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886200"/>
            <a:ext cx="1105509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Low-flow outflow (above): B2-B4 show no coherent mean structure -- these bands sit at the noise floor.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one well-resolved band (high flow, B1): I_unst = 0.76, twice the inflow maximum -- weak mean, large relative fluctuation (consistent with Zhu et al. 2023 near intakes).</a:t>
            </a:r>
          </a:p>
          <a:p>
            <a:pPr>
              <a:spcBef>
                <a:spcPts val="800"/>
              </a:spcBef>
            </a:pPr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Root cause of the floor problem is our dt = 0.33 s: particle displacements 0.05-0.16 px. Fix already planned: re-export the SAME videos at dt ~ 2-7 s and re-run PIV -- no new experiments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Outflow unsteadiness is real but under-resolved -- the re-analysis will recover it before submission.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History matters (to be tested properly)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The old continuous-operation observation and this batch disagree -- informatively.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5120640" cy="35661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34290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PLACEHOLDER (optional)
continuous-run sketch or 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874519"/>
            <a:ext cx="5669280" cy="16916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2075688"/>
            <a:ext cx="515721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What we saw before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 inflow -&gt; outflow continuous operation, the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outflow surface kept a basin-wide circulation.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749039"/>
            <a:ext cx="5669280" cy="169164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9632" y="3950207"/>
            <a:ext cx="5157216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What the still-start batch says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From rest, outflow is a rotation-free sink -- so the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old circulation was inherited from the preceding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inflow (cf. Muller 2012: cells persist ~0.2-0.8 t_P).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Still-start = the clean baseline; history runs are next.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In alternating operation the outflow surface is set by the previous inflow -- a paper-2-era experiment.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What Paper 1 will claim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64791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Inflow and outflow through one reversible port are decisively asymmetric: deflected jet + circulation vs a ~1000x weaker symmetric sink.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62072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h/a ~ 1 is a transition of unsteadiness and surface reach, not of topology (with the stated apparatus caveat at h = a).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069079"/>
            <a:ext cx="457200" cy="45720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40194"/>
            <a:ext cx="101498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Flow rate selects the circulation branch -- deterministically at low and high (opposite signs), </a:t>
            </a:r>
            <a:r>
              <a:rPr sz="2000" b="0" i="0" dirty="0" err="1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bistably</a:t>
            </a:r>
            <a:r>
              <a:rPr sz="2000" b="0" i="0" dirty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 at medium -- and firms the lock as Q grows.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166359"/>
            <a:ext cx="457200" cy="45720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56631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Method lesson: signed + unsigned rotation metrics together, per-run branch statistics, and an explicit noise floor.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0205B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  <a:latin typeface="Arial"/>
                <a:ea typeface="BIZ UDPゴシック"/>
                <a:cs typeface="BIZ UDPゴシック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50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Where this sits in the three-paper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A3A3A"/>
                </a:solidFill>
                <a:latin typeface="Arial"/>
                <a:ea typeface="BIZ UDPゴシック"/>
                <a:cs typeface="BIZ UDPゴシック"/>
              </a:rPr>
              <a:t>Paper 1 is written to stand on the experiment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3611880" cy="26517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309981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Paper 1 -- this talk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Experiment only, no CFD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inside. Target: submit after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 outflow re-analysis and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final figure pass.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920240"/>
            <a:ext cx="3611880" cy="26517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2121408"/>
            <a:ext cx="309981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Paper 2 -- 3D CFD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OpenFOAM VOF campaign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running in parallel;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quantifies what 3D CFD can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and cannot reproduce of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these regimes.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9288" y="1920240"/>
            <a:ext cx="3611880" cy="2651760"/>
          </a:xfrm>
          <a:prstGeom prst="rect">
            <a:avLst/>
          </a:prstGeom>
          <a:solidFill>
            <a:srgbClr val="E3E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19" y="2121408"/>
            <a:ext cx="3099816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Paper 3 -- 2D x 3D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Joint comparison with your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HEC-RAS 2D results --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model hierarchy on one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bifurcation axis. Builds on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papers 1 + 2.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46320"/>
            <a:ext cx="110550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Open items before submitting Paper 1: outflow re-PIV (longer dt), tracer specs for Methods, two intro references.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● </a:t>
            </a:r>
            <a:r>
              <a:rPr sz="1500" b="0" i="0">
                <a:solidFill>
                  <a:srgbClr val="1A1A1A"/>
                </a:solidFill>
                <a:latin typeface="Arial"/>
                <a:ea typeface="BIZ UDPゴシック"/>
                <a:cs typeface="BIZ UDPゴシック"/>
              </a:rPr>
              <a:t>Nothing in today's results depends on the CFD -- by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64008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5623560"/>
            <a:ext cx="107807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205B"/>
                </a:solidFill>
                <a:latin typeface="Arial"/>
                <a:ea typeface="BIZ UDPゴシック"/>
                <a:cs typeface="BIZ UDPゴシック"/>
              </a:rPr>
              <a:t>Comments most welcome on the branch-selection story -- it is the paper's centerpiece.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  <a:ea typeface="BIZ UDPゴシック"/>
                <a:cs typeface="BIZ UDPゴシック"/>
              </a:rPr>
              <a:t>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246120"/>
            <a:ext cx="2194560" cy="54864"/>
          </a:xfrm>
          <a:prstGeom prst="rect">
            <a:avLst/>
          </a:prstGeom>
          <a:solidFill>
            <a:srgbClr val="AEB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Especially: does the reversing branch preference survive your scrutiny?</a:t>
            </a:r>
          </a:p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Data, scripts and the manuscript draft live in the shared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Times New Roman"/>
                <a:ea typeface="BIZ UDPゴシック"/>
                <a:cs typeface="BIZ UDPゴシック"/>
              </a:rPr>
              <a:t>KYOTO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38251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AEBBC8"/>
                </a:solidFill>
                <a:latin typeface="Arial"/>
                <a:ea typeface="BIZ UDPゴシック"/>
                <a:cs typeface="BIZ UDPゴシック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2934</Words>
  <Application>Microsoft Macintosh PowerPoint</Application>
  <PresentationFormat>Widescreen</PresentationFormat>
  <Paragraphs>317</Paragraphs>
  <Slides>29</Slides>
  <Notes>7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小柴　孝太</cp:lastModifiedBy>
  <cp:revision>19</cp:revision>
  <dcterms:created xsi:type="dcterms:W3CDTF">2013-01-27T09:14:16Z</dcterms:created>
  <dcterms:modified xsi:type="dcterms:W3CDTF">2026-08-28T12:25:44Z</dcterms:modified>
  <cp:category/>
</cp:coreProperties>
</file>